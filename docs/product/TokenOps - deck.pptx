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1" r:id="rId6"/>
    <p:sldId id="263" r:id="rId7"/>
    <p:sldId id="265" r:id="rId8"/>
    <p:sldId id="264" r:id="rId9"/>
    <p:sldId id="269" r:id="rId10"/>
    <p:sldId id="276" r:id="rId11"/>
    <p:sldId id="270" r:id="rId12"/>
    <p:sldId id="275" r:id="rId13"/>
    <p:sldId id="262" r:id="rId14"/>
    <p:sldId id="272" r:id="rId15"/>
    <p:sldId id="273" r:id="rId16"/>
    <p:sldId id="266" r:id="rId17"/>
    <p:sldId id="274" r:id="rId18"/>
    <p:sldId id="267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8C4340-51AC-7087-D8BB-04EF53300400}" v="11" dt="2026-07-02T12:44:10.102"/>
    <p1510:client id="{0B7C6B40-4212-B832-A31F-ED977C759D7B}" v="3" dt="2026-07-02T12:51:57.262"/>
    <p1510:client id="{63180FBC-C803-4957-A937-BF90C4040439}" v="2" dt="2026-07-02T13:14:33.985"/>
    <p1510:client id="{BAA49287-3321-B594-F0EA-85ADB6FE9060}" v="3" dt="2026-07-02T13:13:28.9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A16F9-E9C5-4DF2-9331-6DC9085CCD9B}" type="datetimeFigureOut"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AA58E6-FCEC-43DD-AFA3-E2AB4F84E06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723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whodunit about the one line item finance can't explain yet —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SaaS billed per user; agents bill per call, by the thousand. Linear vs exponential.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$72k is the cloud precedent; Gartner makes agent cost a category, not an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principles for token management, all grounded: token = unit of cost; cost is per-call; attribution precedes control; the bill lags so control must be real-time; Jevons means usage outruns price. Therefore govern at the boundary,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capabilities a token-management layer needs — telemetry, attribution, budgets, real-time enforcement, routing, caching, reporting, steering &amp; self-healing.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Placeholder. We run the same runaway loop through five cost-management frameworks and show what each does — halt, steer, whether the task finishes, and final cost. Fill in once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Understated. We built one — TokenOps. Wrap your client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plane (agents, A2A, unchanged) emits events to an out-of-band control plane — Instrument, Account, Enforce — which applies a STEER policy or the HALT breaker back onto Agent B's run. The agent can't argue past the breaker; the hot path is never blocked by the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bench we stress live: a research agent loops on a search tool, hands findings to a summarizer, one shared run. The A-to-tool loop is the runaway.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policies we provide, from the LLD (names only). STEER policies keep the run alive — redirect, downgrade, throttle, compact, loop-break. HALT policies are the hard floor — budget, step cap, worst-case. Future vision: a control plane that learns from past trends, forecasts spend, flags anomalies, and tunes its own policies per workload.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Come find us — happy to show the steering working. Point to the repo. Add a repo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agentplane/tokenops-wiki/tree/main#tokenop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input/ai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88" y="381000"/>
            <a:ext cx="1753772" cy="670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58191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Spent All the </a:t>
            </a:r>
            <a:r>
              <a:rPr lang="en-US" sz="4200">
                <a:solidFill>
                  <a:srgbClr val="EFB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Tokens</a:t>
            </a:r>
            <a:r>
              <a:rPr lang="en-US" sz="42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4200"/>
          </a:p>
        </p:txBody>
      </p:sp>
      <p:sp>
        <p:nvSpPr>
          <p:cNvPr id="4" name="Text 1"/>
          <p:cNvSpPr/>
          <p:nvPr/>
        </p:nvSpPr>
        <p:spPr>
          <a:xfrm>
            <a:off x="868680" y="234086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93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for AI agents.</a:t>
            </a:r>
            <a:endParaRPr lang="en-US" sz="1500"/>
          </a:p>
        </p:txBody>
      </p:sp>
      <p:sp>
        <p:nvSpPr>
          <p:cNvPr id="5" name="Text 2"/>
          <p:cNvSpPr/>
          <p:nvPr/>
        </p:nvSpPr>
        <p:spPr>
          <a:xfrm>
            <a:off x="868680" y="440740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kern="0" spc="10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Susheem Koul      ·      Tisha Chawla</a:t>
            </a:r>
            <a:endParaRPr lang="en-US" sz="1300"/>
          </a:p>
        </p:txBody>
      </p:sp>
      <p:pic>
        <p:nvPicPr>
          <p:cNvPr id="6" name="Image 0" descr="/mnt/workspace/input/qr-susheem.png">
            <a:extLst>
              <a:ext uri="{FF2B5EF4-FFF2-40B4-BE49-F238E27FC236}">
                <a16:creationId xmlns:a16="http://schemas.microsoft.com/office/drawing/2014/main" id="{90010AEC-0A7B-94F8-FA78-DDDF33FB6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960" y="3270504"/>
            <a:ext cx="990600" cy="990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CEF000-944D-D939-183F-89A1204638E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35" t="5204" r="-3735"/>
          <a:stretch>
            <a:fillRect/>
          </a:stretch>
        </p:blipFill>
        <p:spPr>
          <a:xfrm>
            <a:off x="7200900" y="3209860"/>
            <a:ext cx="1074420" cy="10512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707845"/>
            <a:ext cx="7863840" cy="687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ECE7DD"/>
                </a:solidFill>
                <a:latin typeface="Georgia"/>
              </a:rPr>
              <a:t>With every major </a:t>
            </a:r>
            <a:r>
              <a:rPr sz="2200" b="1" i="0">
                <a:solidFill>
                  <a:schemeClr val="accent2"/>
                </a:solidFill>
                <a:latin typeface="Georgia"/>
              </a:rPr>
              <a:t>software shift</a:t>
            </a:r>
            <a:r>
              <a:rPr sz="2200" b="0" i="0">
                <a:solidFill>
                  <a:srgbClr val="ECE7DD"/>
                </a:solidFill>
                <a:latin typeface="Georgia"/>
              </a:rPr>
              <a:t>, do we keep facing the same problem?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60120" y="2542032"/>
            <a:ext cx="7635240" cy="0"/>
          </a:xfrm>
          <a:prstGeom prst="bentConnector3">
            <a:avLst/>
          </a:prstGeom>
          <a:ln w="15875">
            <a:solidFill>
              <a:srgbClr val="2A28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121408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EFBE4D"/>
                </a:solidFill>
                <a:latin typeface="Georgia"/>
              </a:rPr>
              <a:t>SaaS Era</a:t>
            </a:r>
          </a:p>
        </p:txBody>
      </p:sp>
      <p:sp>
        <p:nvSpPr>
          <p:cNvPr id="5" name="Oval 4"/>
          <p:cNvSpPr/>
          <p:nvPr/>
        </p:nvSpPr>
        <p:spPr>
          <a:xfrm>
            <a:off x="1993391" y="2500884"/>
            <a:ext cx="82296" cy="82296"/>
          </a:xfrm>
          <a:prstGeom prst="ellipse">
            <a:avLst/>
          </a:prstGeom>
          <a:solidFill>
            <a:srgbClr val="EFB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724912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AFA99B"/>
                </a:solidFill>
                <a:latin typeface="Consolas"/>
              </a:rPr>
              <a:t>COST SURFACE</a:t>
            </a:r>
          </a:p>
          <a:p>
            <a:pPr algn="l">
              <a:lnSpc>
                <a:spcPct val="102000"/>
              </a:lnSpc>
            </a:pPr>
            <a:r>
              <a:rPr sz="1250" b="0" i="0">
                <a:solidFill>
                  <a:srgbClr val="ECE7DD"/>
                </a:solidFill>
                <a:latin typeface="Calibri"/>
              </a:rPr>
              <a:t>The user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AFA99B"/>
                </a:solidFill>
                <a:latin typeface="Consolas"/>
              </a:rPr>
              <a:t>CONTROL PLANE</a:t>
            </a:r>
          </a:p>
          <a:p>
            <a:pPr algn="l">
              <a:lnSpc>
                <a:spcPct val="102000"/>
              </a:lnSpc>
            </a:pPr>
            <a:r>
              <a:rPr sz="1250" b="0" i="0">
                <a:solidFill>
                  <a:srgbClr val="ECE7DD"/>
                </a:solidFill>
                <a:latin typeface="Calibri"/>
              </a:rPr>
              <a:t>Usage caps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121408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EFBE4D"/>
                </a:solidFill>
                <a:latin typeface="Georgia"/>
              </a:rPr>
              <a:t>Cloud Era</a:t>
            </a:r>
          </a:p>
        </p:txBody>
      </p:sp>
      <p:sp>
        <p:nvSpPr>
          <p:cNvPr id="9" name="Oval 8"/>
          <p:cNvSpPr/>
          <p:nvPr/>
        </p:nvSpPr>
        <p:spPr>
          <a:xfrm>
            <a:off x="4553712" y="2500884"/>
            <a:ext cx="82296" cy="82296"/>
          </a:xfrm>
          <a:prstGeom prst="ellipse">
            <a:avLst/>
          </a:prstGeom>
          <a:solidFill>
            <a:srgbClr val="EFB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2724912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AFA99B"/>
                </a:solidFill>
                <a:latin typeface="Consolas"/>
              </a:rPr>
              <a:t>COST SURFACE</a:t>
            </a:r>
          </a:p>
          <a:p>
            <a:pPr algn="l">
              <a:lnSpc>
                <a:spcPct val="102000"/>
              </a:lnSpc>
            </a:pPr>
            <a:r>
              <a:rPr sz="1250" b="0" i="0">
                <a:solidFill>
                  <a:srgbClr val="ECE7DD"/>
                </a:solidFill>
                <a:latin typeface="Calibri"/>
              </a:rPr>
              <a:t>The infrastructure management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61188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AFA99B"/>
                </a:solidFill>
                <a:latin typeface="Consolas"/>
              </a:rPr>
              <a:t>CONTROL PLANE</a:t>
            </a:r>
          </a:p>
          <a:p>
            <a:pPr algn="l">
              <a:lnSpc>
                <a:spcPct val="102000"/>
              </a:lnSpc>
            </a:pPr>
            <a:r>
              <a:rPr sz="1250" b="0" i="0">
                <a:solidFill>
                  <a:srgbClr val="ECE7DD"/>
                </a:solidFill>
                <a:latin typeface="Calibri"/>
              </a:rPr>
              <a:t>Auto-provisioning and auto-scaling policies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12140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EFBE4D"/>
                </a:solidFill>
                <a:latin typeface="Georgia"/>
              </a:rPr>
              <a:t>Agent Era</a:t>
            </a:r>
          </a:p>
        </p:txBody>
      </p:sp>
      <p:sp>
        <p:nvSpPr>
          <p:cNvPr id="13" name="Oval 12"/>
          <p:cNvSpPr/>
          <p:nvPr/>
        </p:nvSpPr>
        <p:spPr>
          <a:xfrm>
            <a:off x="7274052" y="2500884"/>
            <a:ext cx="82296" cy="82296"/>
          </a:xfrm>
          <a:prstGeom prst="ellipse">
            <a:avLst/>
          </a:prstGeom>
          <a:solidFill>
            <a:srgbClr val="EFB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724912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AFA99B"/>
                </a:solidFill>
                <a:latin typeface="Consolas"/>
              </a:rPr>
              <a:t>COST SURFACE</a:t>
            </a:r>
          </a:p>
          <a:p>
            <a:pPr algn="l">
              <a:lnSpc>
                <a:spcPct val="102000"/>
              </a:lnSpc>
            </a:pPr>
            <a:r>
              <a:rPr sz="1250" b="0" i="0">
                <a:solidFill>
                  <a:srgbClr val="ECE7DD"/>
                </a:solidFill>
                <a:latin typeface="Calibri"/>
              </a:rPr>
              <a:t>The LLM client-call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61188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AFA99B"/>
                </a:solidFill>
                <a:latin typeface="Consolas"/>
              </a:rPr>
              <a:t>CONTROL PLANE</a:t>
            </a:r>
          </a:p>
          <a:p>
            <a:pPr algn="l">
              <a:lnSpc>
                <a:spcPct val="102000"/>
              </a:lnSpc>
            </a:pPr>
            <a:r>
              <a:rPr sz="1250" b="0" i="0">
                <a:solidFill>
                  <a:srgbClr val="ECE7DD"/>
                </a:solidFill>
                <a:latin typeface="Calibri"/>
              </a:rPr>
              <a:t>Real-time interceptors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658368"/>
            <a:ext cx="79552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ECE7DD"/>
                </a:solidFill>
                <a:latin typeface="Georgia"/>
              </a:rPr>
              <a:t>They all had budgets. Why didn’t that stop the spend?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481328"/>
            <a:ext cx="3703320" cy="14813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A2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" y="1636776"/>
            <a:ext cx="32644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EFBE4D"/>
                </a:solidFill>
                <a:latin typeface="Consolas"/>
              </a:rP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" y="1883664"/>
            <a:ext cx="3264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CE7DD"/>
                </a:solidFill>
                <a:latin typeface="Georgia"/>
              </a:rPr>
              <a:t>Uber caps employee AI spending after blowing through budget in 4 months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505456"/>
            <a:ext cx="32644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2BDB3"/>
                </a:solidFill>
                <a:latin typeface="Calibri"/>
              </a:rPr>
              <a:t>~5,000 engineers on Claude Code. The whole 2026 AI budget, gone. Now $1,500 per engineer a month.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481328"/>
            <a:ext cx="3703320" cy="14813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A2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28616" y="1636776"/>
            <a:ext cx="32644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EFBE4D"/>
                </a:solidFill>
                <a:latin typeface="Consolas"/>
              </a:rPr>
              <a:t>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8616" y="1883664"/>
            <a:ext cx="3264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CE7DD"/>
                </a:solidFill>
                <a:latin typeface="Georgia"/>
              </a:rPr>
              <a:t>A company blew $500M on Claude in a single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8616" y="2505456"/>
            <a:ext cx="32644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2BDB3"/>
                </a:solidFill>
                <a:latin typeface="Calibri"/>
              </a:rPr>
              <a:t>Employee licenses rolled out with no usage limits. One month to half a billion dollars.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072384"/>
            <a:ext cx="3703320" cy="14813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A2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" y="3227832"/>
            <a:ext cx="32644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EFBE4D"/>
                </a:solidFill>
                <a:latin typeface="Consolas"/>
              </a:rPr>
              <a:t>JULY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3474720"/>
            <a:ext cx="3264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CE7DD"/>
                </a:solidFill>
                <a:latin typeface="Georgia"/>
              </a:rPr>
              <a:t>Cursor apologizes for pricing changes that upset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4096512"/>
            <a:ext cx="32644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2BDB3"/>
                </a:solidFill>
                <a:latin typeface="Calibri"/>
              </a:rPr>
              <a:t>Developers auto-charged past their limits, some after only a handful of prompts.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072384"/>
            <a:ext cx="3703320" cy="14813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A2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28616" y="3227832"/>
            <a:ext cx="32644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EFBE4D"/>
                </a:solidFill>
                <a:latin typeface="Consolas"/>
              </a:rPr>
              <a:t>2020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3474720"/>
            <a:ext cx="3264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ECE7DD"/>
                </a:solidFill>
                <a:latin typeface="Georgia"/>
              </a:rPr>
              <a:t>A $7 experiment ended with a $72,000 bill overnight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4096512"/>
            <a:ext cx="32644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2BDB3"/>
                </a:solidFill>
                <a:latin typeface="Calibri"/>
              </a:rPr>
              <a:t>An infinite loop ran unchecked. The budget capped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676656"/>
            <a:ext cx="77724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chemeClr val="accent2"/>
                </a:solidFill>
                <a:latin typeface="Georgia"/>
              </a:rPr>
              <a:t>First principles</a:t>
            </a:r>
            <a:r>
              <a:rPr sz="2200" b="0" i="0">
                <a:solidFill>
                  <a:srgbClr val="ECE7DD"/>
                </a:solidFill>
                <a:latin typeface="Georgia"/>
              </a:rPr>
              <a:t>, and what we measure.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8132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4813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BENCHMARK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EFBE4D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93392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7DD"/>
                </a:solidFill>
                <a:latin typeface="Calibri"/>
              </a:rPr>
              <a:t>Tokens are the unit of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993392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FBE4D"/>
                </a:solidFill>
                <a:latin typeface="Consolas"/>
              </a:rPr>
              <a:t>cost per token → value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EFBE4D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7DD"/>
                </a:solidFill>
                <a:latin typeface="Calibri"/>
              </a:rPr>
              <a:t>Cost is created at the call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5603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FBE4D"/>
                </a:solidFill>
                <a:latin typeface="Consolas"/>
              </a:rPr>
              <a:t>% of spend seen at the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27248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EFBE4D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27248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7DD"/>
                </a:solidFill>
                <a:latin typeface="Calibri"/>
              </a:rPr>
              <a:t>No attribution, no control; tag every call.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27248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FBE4D"/>
                </a:solidFill>
                <a:latin typeface="Consolas"/>
              </a:rPr>
              <a:t>% of calls attributed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94176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EFBE4D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94176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7DD"/>
                </a:solidFill>
                <a:latin typeface="Calibri"/>
              </a:rPr>
              <a:t>The bill lags, so control must be real-time.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694176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FBE4D"/>
                </a:solidFill>
                <a:latin typeface="Consolas"/>
              </a:rPr>
              <a:t>enforcement latency; halt in-flight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749808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ECE7DD"/>
                </a:solidFill>
                <a:latin typeface="Georgia"/>
              </a:rPr>
              <a:t>What a token-management layer needs.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EFBE4D"/>
                </a:solidFill>
                <a:latin typeface="Georgia"/>
              </a:rPr>
              <a:t>It has to govern the run, not the request.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2140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A GATEWAY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68296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CE7DD"/>
                </a:solidFill>
                <a:latin typeface="Calibri"/>
              </a:rPr>
              <a:t>One request at a time. Per-request caps and routing.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2121408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FBE4D"/>
                </a:solidFill>
                <a:latin typeface="Consolas"/>
              </a:rPr>
              <a:t>A RUN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368296"/>
            <a:ext cx="38862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CE7DD"/>
                </a:solidFill>
                <a:latin typeface="Calibri"/>
              </a:rPr>
              <a:t>The whole task: loops, growing context, fan-out, sub-agents. One cumulative bill, per run and per customer.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3456432"/>
            <a:ext cx="7406639" cy="0"/>
          </a:xfrm>
          <a:prstGeom prst="bentConnector3">
            <a:avLst/>
          </a:prstGeom>
          <a:ln w="12700">
            <a:solidFill>
              <a:srgbClr val="2A28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36393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FBE4D"/>
                </a:solidFill>
                <a:latin typeface="Consola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393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ECE7DD"/>
                </a:solidFill>
                <a:latin typeface="Calibri"/>
              </a:rPr>
              <a:t>One budget across every agent in the run, on a shared ledger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593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FBE4D"/>
                </a:solidFill>
                <a:latin typeface="Consola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9593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ECE7DD"/>
                </a:solidFill>
                <a:latin typeface="Calibri"/>
              </a:rPr>
              <a:t>Enforcement in the call path, before the spend 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793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FBE4D"/>
                </a:solidFill>
                <a:latin typeface="Consolas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7939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ECE7DD"/>
                </a:solidFill>
                <a:latin typeface="Calibri"/>
              </a:rPr>
              <a:t>Act, don’t alert: steer or halt while the run is live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73152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ECE7DD"/>
                </a:solidFill>
                <a:latin typeface="Georgia"/>
              </a:rPr>
              <a:t>The landscape.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C2BDB3"/>
                </a:solidFill>
                <a:latin typeface="Calibri"/>
              </a:rPr>
              <a:t>Every tool here governs the request. Which one governs the run?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91640"/>
            <a:ext cx="1371600" cy="2944368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FA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0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LiteLLM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2463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Portkey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0328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Cloudflare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Langfuse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6056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EFBE4D"/>
                </a:solidFill>
                <a:latin typeface="Consolas"/>
              </a:rPr>
              <a:t>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39696"/>
            <a:ext cx="7909560" cy="0"/>
          </a:xfrm>
          <a:prstGeom prst="bentConnector3">
            <a:avLst/>
          </a:prstGeom>
          <a:ln w="12700">
            <a:solidFill>
              <a:srgbClr val="2A28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4942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Governs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trace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5176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Cost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request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2463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trace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54096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Budget stop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team / key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2463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virtual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456432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Steering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routing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2463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fallbacks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0328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routing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58768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Enforce 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in-path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12463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in-path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in-path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out-of-band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26110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Fail-closed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optional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12463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limited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10328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8192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27889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i="0">
                <a:solidFill>
                  <a:srgbClr val="EFBE4D"/>
                </a:solidFill>
                <a:latin typeface="Georgia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011680"/>
            <a:ext cx="7863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EFBE4D"/>
                </a:solidFill>
                <a:latin typeface="Georgia"/>
              </a:rPr>
              <a:t>TokenOps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297180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2BDB3"/>
                </a:solidFill>
                <a:latin typeface="Calibri"/>
              </a:rPr>
              <a:t>Run-aware token governance for AI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Out-of-band by design.</a:t>
            </a:r>
            <a:endParaRPr lang="en-US" sz="2200"/>
          </a:p>
        </p:txBody>
      </p:sp>
      <p:sp>
        <p:nvSpPr>
          <p:cNvPr id="3" name="Shape 1"/>
          <p:cNvSpPr/>
          <p:nvPr/>
        </p:nvSpPr>
        <p:spPr>
          <a:xfrm>
            <a:off x="777240" y="1234440"/>
            <a:ext cx="7589520" cy="868680"/>
          </a:xfrm>
          <a:prstGeom prst="roundRect">
            <a:avLst>
              <a:gd name="adj" fmla="val 8421"/>
            </a:avLst>
          </a:prstGeom>
          <a:solidFill>
            <a:srgbClr val="0B0B0D"/>
          </a:solidFill>
          <a:ln w="12700">
            <a:solidFill>
              <a:srgbClr val="2A28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307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>
                <a:solidFill>
                  <a:srgbClr val="C2BD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PLANE · your agents, unchanged</a:t>
            </a:r>
            <a:endParaRPr lang="en-US" sz="950"/>
          </a:p>
        </p:txBody>
      </p:sp>
      <p:sp>
        <p:nvSpPr>
          <p:cNvPr id="5" name="Shape 3"/>
          <p:cNvSpPr/>
          <p:nvPr/>
        </p:nvSpPr>
        <p:spPr>
          <a:xfrm>
            <a:off x="1554480" y="1591056"/>
            <a:ext cx="1737360" cy="438912"/>
          </a:xfrm>
          <a:prstGeom prst="rect">
            <a:avLst/>
          </a:prstGeom>
          <a:solidFill>
            <a:srgbClr val="131210"/>
          </a:solidFill>
          <a:ln w="12700">
            <a:solidFill>
              <a:srgbClr val="2A28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554480" y="1591056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3383280" y="1810512"/>
            <a:ext cx="1554480" cy="0"/>
          </a:xfrm>
          <a:prstGeom prst="line">
            <a:avLst/>
          </a:prstGeom>
          <a:noFill/>
          <a:ln w="15875">
            <a:solidFill>
              <a:srgbClr val="938F8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291840" y="148132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A2A · one run</a:t>
            </a:r>
            <a:endParaRPr lang="en-US" sz="850"/>
          </a:p>
        </p:txBody>
      </p:sp>
      <p:sp>
        <p:nvSpPr>
          <p:cNvPr id="9" name="Shape 7"/>
          <p:cNvSpPr/>
          <p:nvPr/>
        </p:nvSpPr>
        <p:spPr>
          <a:xfrm>
            <a:off x="5029200" y="1591056"/>
            <a:ext cx="1737360" cy="438912"/>
          </a:xfrm>
          <a:prstGeom prst="rect">
            <a:avLst/>
          </a:prstGeom>
          <a:solidFill>
            <a:srgbClr val="131210"/>
          </a:solidFill>
          <a:ln w="12700">
            <a:solidFill>
              <a:srgbClr val="2A28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029200" y="1591056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2468880" y="2048256"/>
            <a:ext cx="0" cy="676656"/>
          </a:xfrm>
          <a:prstGeom prst="line">
            <a:avLst/>
          </a:prstGeom>
          <a:noFill/>
          <a:ln w="15875">
            <a:solidFill>
              <a:srgbClr val="EFBE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578608" y="2286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</a:t>
            </a:r>
            <a:endParaRPr lang="en-US" sz="900"/>
          </a:p>
        </p:txBody>
      </p:sp>
      <p:sp>
        <p:nvSpPr>
          <p:cNvPr id="13" name="Shape 11"/>
          <p:cNvSpPr/>
          <p:nvPr/>
        </p:nvSpPr>
        <p:spPr>
          <a:xfrm>
            <a:off x="5943600" y="2048256"/>
            <a:ext cx="0" cy="676656"/>
          </a:xfrm>
          <a:prstGeom prst="line">
            <a:avLst/>
          </a:prstGeom>
          <a:noFill/>
          <a:ln w="15875">
            <a:solidFill>
              <a:srgbClr val="EFBE4D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053328" y="2286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900"/>
          </a:p>
        </p:txBody>
      </p:sp>
      <p:sp>
        <p:nvSpPr>
          <p:cNvPr id="15" name="Shape 13"/>
          <p:cNvSpPr/>
          <p:nvPr/>
        </p:nvSpPr>
        <p:spPr>
          <a:xfrm>
            <a:off x="777240" y="2743200"/>
            <a:ext cx="7589520" cy="1463040"/>
          </a:xfrm>
          <a:prstGeom prst="roundRect">
            <a:avLst>
              <a:gd name="adj" fmla="val 5000"/>
            </a:avLst>
          </a:prstGeom>
          <a:solidFill>
            <a:srgbClr val="131210"/>
          </a:solidFill>
          <a:ln w="12700">
            <a:solidFill>
              <a:srgbClr val="4A42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05840" y="2834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 PLANE · OUT-OF-BAND</a:t>
            </a:r>
            <a:endParaRPr lang="en-US" sz="950"/>
          </a:p>
        </p:txBody>
      </p:sp>
      <p:sp>
        <p:nvSpPr>
          <p:cNvPr id="17" name="Text 15"/>
          <p:cNvSpPr/>
          <p:nvPr/>
        </p:nvSpPr>
        <p:spPr>
          <a:xfrm>
            <a:off x="1188720" y="33101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</a:t>
            </a:r>
            <a:endParaRPr lang="en-US" sz="1500"/>
          </a:p>
        </p:txBody>
      </p:sp>
      <p:sp>
        <p:nvSpPr>
          <p:cNvPr id="18" name="Shape 16"/>
          <p:cNvSpPr/>
          <p:nvPr/>
        </p:nvSpPr>
        <p:spPr>
          <a:xfrm>
            <a:off x="2286000" y="3438144"/>
            <a:ext cx="320040" cy="0"/>
          </a:xfrm>
          <a:prstGeom prst="line">
            <a:avLst/>
          </a:prstGeom>
          <a:noFill/>
          <a:ln w="15875">
            <a:solidFill>
              <a:srgbClr val="938F8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697480" y="33101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endParaRPr lang="en-US" sz="1500"/>
          </a:p>
        </p:txBody>
      </p:sp>
      <p:sp>
        <p:nvSpPr>
          <p:cNvPr id="20" name="Shape 18"/>
          <p:cNvSpPr/>
          <p:nvPr/>
        </p:nvSpPr>
        <p:spPr>
          <a:xfrm>
            <a:off x="3703320" y="3438144"/>
            <a:ext cx="320040" cy="0"/>
          </a:xfrm>
          <a:prstGeom prst="line">
            <a:avLst/>
          </a:prstGeom>
          <a:noFill/>
          <a:ln w="15875">
            <a:solidFill>
              <a:srgbClr val="938F8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114800" y="33101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EFBE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Enforce</a:t>
            </a:r>
            <a:endParaRPr lang="en-US" sz="1500"/>
          </a:p>
        </p:txBody>
      </p:sp>
      <p:sp>
        <p:nvSpPr>
          <p:cNvPr id="22" name="Shape 20"/>
          <p:cNvSpPr/>
          <p:nvPr/>
        </p:nvSpPr>
        <p:spPr>
          <a:xfrm>
            <a:off x="5029200" y="3291840"/>
            <a:ext cx="822960" cy="0"/>
          </a:xfrm>
          <a:prstGeom prst="line">
            <a:avLst/>
          </a:prstGeom>
          <a:noFill/>
          <a:ln w="15875">
            <a:solidFill>
              <a:srgbClr val="EFBE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029200" y="3456432"/>
            <a:ext cx="822960" cy="384048"/>
          </a:xfrm>
          <a:prstGeom prst="line">
            <a:avLst/>
          </a:prstGeom>
          <a:noFill/>
          <a:ln w="15875">
            <a:solidFill>
              <a:srgbClr val="D671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943600" y="2971800"/>
            <a:ext cx="2011680" cy="475488"/>
          </a:xfrm>
          <a:prstGeom prst="rect">
            <a:avLst/>
          </a:prstGeom>
          <a:solidFill>
            <a:srgbClr val="18130B"/>
          </a:solidFill>
          <a:ln w="12700">
            <a:solidFill>
              <a:srgbClr val="EFBE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943600" y="29718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STEER</a:t>
            </a:r>
            <a:endParaRPr lang="en-US" sz="1300"/>
          </a:p>
        </p:txBody>
      </p:sp>
      <p:sp>
        <p:nvSpPr>
          <p:cNvPr id="26" name="Shape 24"/>
          <p:cNvSpPr/>
          <p:nvPr/>
        </p:nvSpPr>
        <p:spPr>
          <a:xfrm>
            <a:off x="5943600" y="3584448"/>
            <a:ext cx="2011680" cy="475488"/>
          </a:xfrm>
          <a:prstGeom prst="rect">
            <a:avLst/>
          </a:prstGeom>
          <a:solidFill>
            <a:srgbClr val="1A110D"/>
          </a:solidFill>
          <a:ln w="12700">
            <a:solidFill>
              <a:srgbClr val="D671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943600" y="358444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rgbClr val="D671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</a:t>
            </a:r>
            <a:endParaRPr lang="en-US" sz="1300"/>
          </a:p>
        </p:txBody>
      </p:sp>
      <p:sp>
        <p:nvSpPr>
          <p:cNvPr id="28" name="Text 26"/>
          <p:cNvSpPr/>
          <p:nvPr/>
        </p:nvSpPr>
        <p:spPr>
          <a:xfrm>
            <a:off x="868680" y="43708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C2BD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Policies steer the run. Only the circuit breaker halts it.</a:t>
            </a:r>
            <a:endParaRPr lang="en-US" sz="95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73152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ECE7DD"/>
                </a:solidFill>
                <a:latin typeface="Georgia"/>
              </a:rPr>
              <a:t>The landscape.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C2BDB3"/>
                </a:solidFill>
                <a:latin typeface="Calibri"/>
              </a:rPr>
              <a:t>How today’s tools govern AI spend, and where they stop.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91640"/>
            <a:ext cx="1371600" cy="2944368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EFBE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0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LiteLLM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2463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Portkey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0328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Cloudflare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FA99B"/>
                </a:solidFill>
                <a:latin typeface="Consolas"/>
              </a:rPr>
              <a:t>Langfuse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6056" y="182880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EFBE4D"/>
                </a:solidFill>
                <a:latin typeface="Consolas"/>
              </a:rPr>
              <a:t>TokenOps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39696"/>
            <a:ext cx="7909560" cy="0"/>
          </a:xfrm>
          <a:prstGeom prst="bentConnector3">
            <a:avLst/>
          </a:prstGeom>
          <a:ln w="12700">
            <a:solidFill>
              <a:srgbClr val="2A28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4942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Governs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trace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6056" y="224942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BE4D"/>
                </a:solidFill>
                <a:latin typeface="Calibri"/>
              </a:rPr>
              <a:t>the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65176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Cost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3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per trace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2651760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BE4D"/>
                </a:solidFill>
                <a:latin typeface="Calibri"/>
              </a:rPr>
              <a:t>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54096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Budget 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team / 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2463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virtual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10328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08192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6056" y="3054096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BE4D"/>
                </a:solidFill>
                <a:latin typeface="Calibri"/>
              </a:rPr>
              <a:t>run-aware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56432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Steering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routing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2463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fallbacks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8192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06056" y="3456432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BE4D"/>
                </a:solidFill>
                <a:latin typeface="Calibri"/>
              </a:rPr>
              <a:t>full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58768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Enforce 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in-path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12463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in-path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in-path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8192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out-of-band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6056" y="3858768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BE4D"/>
                </a:solidFill>
                <a:latin typeface="Calibri"/>
              </a:rPr>
              <a:t>in-path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426110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ECE7DD"/>
                </a:solidFill>
                <a:latin typeface="Calibri"/>
              </a:rPr>
              <a:t>Fail-closed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optional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12463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limited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0328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8192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C2BDB3"/>
                </a:solidFill>
                <a:latin typeface="Calibri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06056" y="4261104"/>
            <a:ext cx="117043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BE4D"/>
                </a:solidFill>
                <a:latin typeface="Calibri"/>
              </a:rPr>
              <a:t>optional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17BA0-79FA-B1A1-ED88-65F2431B5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79601E-D7CF-3A80-C7B7-2D0CACA75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027"/>
            <a:ext cx="9144000" cy="4277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080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4340" y="3200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ECE7DD"/>
                </a:solidFill>
                <a:latin typeface="Georgia"/>
              </a:rPr>
              <a:t>What changes in your code.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7212A7-FB5C-C261-AA0B-C80F2AC5C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" y="731520"/>
            <a:ext cx="8404860" cy="41952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0854A5-4E5E-2CC0-887E-BB04A251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50642D-D687-466A-7371-F13D3CA36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56" y="0"/>
            <a:ext cx="604140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62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1323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test bench.</a:t>
            </a:r>
            <a:endParaRPr lang="en-US" sz="2200"/>
          </a:p>
        </p:txBody>
      </p:sp>
      <p:sp>
        <p:nvSpPr>
          <p:cNvPr id="3" name="Shape 1"/>
          <p:cNvSpPr/>
          <p:nvPr/>
        </p:nvSpPr>
        <p:spPr>
          <a:xfrm>
            <a:off x="2240280" y="1325880"/>
            <a:ext cx="1463040" cy="658368"/>
          </a:xfrm>
          <a:prstGeom prst="rect">
            <a:avLst/>
          </a:prstGeom>
          <a:solidFill>
            <a:srgbClr val="131210"/>
          </a:solidFill>
          <a:ln w="12700">
            <a:solidFill>
              <a:srgbClr val="2A28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240280" y="132588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tool</a:t>
            </a:r>
            <a:endParaRPr lang="en-US" sz="1250"/>
          </a:p>
        </p:txBody>
      </p:sp>
      <p:sp>
        <p:nvSpPr>
          <p:cNvPr id="5" name="Shape 3"/>
          <p:cNvSpPr/>
          <p:nvPr/>
        </p:nvSpPr>
        <p:spPr>
          <a:xfrm>
            <a:off x="566928" y="2697480"/>
            <a:ext cx="1143000" cy="512064"/>
          </a:xfrm>
          <a:prstGeom prst="roundRect">
            <a:avLst>
              <a:gd name="adj" fmla="val 21429"/>
            </a:avLst>
          </a:prstGeom>
          <a:solidFill>
            <a:srgbClr val="0B0B0D"/>
          </a:solidFill>
          <a:ln w="12700">
            <a:solidFill>
              <a:srgbClr val="938F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66928" y="2697480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task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2103120" y="2578608"/>
            <a:ext cx="1737360" cy="786384"/>
          </a:xfrm>
          <a:prstGeom prst="rect">
            <a:avLst/>
          </a:prstGeom>
          <a:solidFill>
            <a:srgbClr val="131210"/>
          </a:solidFill>
          <a:ln w="12700">
            <a:solidFill>
              <a:srgbClr val="2A28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103120" y="26700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A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2103120" y="30723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C2BD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</a:t>
            </a:r>
            <a:endParaRPr lang="en-US" sz="1000"/>
          </a:p>
        </p:txBody>
      </p:sp>
      <p:sp>
        <p:nvSpPr>
          <p:cNvPr id="10" name="Shape 8"/>
          <p:cNvSpPr/>
          <p:nvPr/>
        </p:nvSpPr>
        <p:spPr>
          <a:xfrm>
            <a:off x="4526280" y="2578608"/>
            <a:ext cx="1737360" cy="786384"/>
          </a:xfrm>
          <a:prstGeom prst="rect">
            <a:avLst/>
          </a:prstGeom>
          <a:solidFill>
            <a:srgbClr val="131210"/>
          </a:solidFill>
          <a:ln w="12700">
            <a:solidFill>
              <a:srgbClr val="2A28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526280" y="26700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B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4526280" y="30723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C2BD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</a:t>
            </a:r>
            <a:endParaRPr lang="en-US" sz="1000"/>
          </a:p>
        </p:txBody>
      </p:sp>
      <p:sp>
        <p:nvSpPr>
          <p:cNvPr id="13" name="Shape 11"/>
          <p:cNvSpPr/>
          <p:nvPr/>
        </p:nvSpPr>
        <p:spPr>
          <a:xfrm>
            <a:off x="6766560" y="2697480"/>
            <a:ext cx="1143000" cy="512064"/>
          </a:xfrm>
          <a:prstGeom prst="roundRect">
            <a:avLst>
              <a:gd name="adj" fmla="val 21429"/>
            </a:avLst>
          </a:prstGeom>
          <a:solidFill>
            <a:srgbClr val="0B0B0D"/>
          </a:solidFill>
          <a:ln w="12700">
            <a:solidFill>
              <a:srgbClr val="938F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766560" y="2697480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1709928" y="2953512"/>
            <a:ext cx="393192" cy="0"/>
          </a:xfrm>
          <a:prstGeom prst="line">
            <a:avLst/>
          </a:prstGeom>
          <a:noFill/>
          <a:ln w="15875">
            <a:solidFill>
              <a:srgbClr val="938F8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840480" y="2953512"/>
            <a:ext cx="685800" cy="0"/>
          </a:xfrm>
          <a:prstGeom prst="line">
            <a:avLst/>
          </a:prstGeom>
          <a:noFill/>
          <a:ln w="15875">
            <a:solidFill>
              <a:srgbClr val="938F8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263640" y="2953512"/>
            <a:ext cx="502920" cy="0"/>
          </a:xfrm>
          <a:prstGeom prst="line">
            <a:avLst/>
          </a:prstGeom>
          <a:noFill/>
          <a:ln w="15875">
            <a:solidFill>
              <a:srgbClr val="938F8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22192" y="265176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C2BDB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findings</a:t>
            </a:r>
            <a:endParaRPr lang="en-US" sz="950"/>
          </a:p>
        </p:txBody>
      </p:sp>
      <p:sp>
        <p:nvSpPr>
          <p:cNvPr id="19" name="Shape 17"/>
          <p:cNvSpPr/>
          <p:nvPr/>
        </p:nvSpPr>
        <p:spPr>
          <a:xfrm>
            <a:off x="2670048" y="1984248"/>
            <a:ext cx="0" cy="594360"/>
          </a:xfrm>
          <a:prstGeom prst="line">
            <a:avLst/>
          </a:prstGeom>
          <a:noFill/>
          <a:ln w="15875">
            <a:solidFill>
              <a:srgbClr val="EFBE4D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273552" y="1984248"/>
            <a:ext cx="0" cy="594360"/>
          </a:xfrm>
          <a:prstGeom prst="line">
            <a:avLst/>
          </a:prstGeom>
          <a:noFill/>
          <a:ln w="15875">
            <a:solidFill>
              <a:srgbClr val="EFBE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993392" y="2157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calls</a:t>
            </a:r>
            <a:endParaRPr lang="en-US" sz="950"/>
          </a:p>
        </p:txBody>
      </p:sp>
      <p:sp>
        <p:nvSpPr>
          <p:cNvPr id="22" name="Text 20"/>
          <p:cNvSpPr/>
          <p:nvPr/>
        </p:nvSpPr>
        <p:spPr>
          <a:xfrm>
            <a:off x="3310128" y="215798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950"/>
          </a:p>
        </p:txBody>
      </p:sp>
      <p:sp>
        <p:nvSpPr>
          <p:cNvPr id="23" name="Text 21"/>
          <p:cNvSpPr/>
          <p:nvPr/>
        </p:nvSpPr>
        <p:spPr>
          <a:xfrm>
            <a:off x="868680" y="4160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8A86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agents, one shared run. The loop between Agent A and the tool is where it runs away.</a:t>
            </a:r>
            <a:endParaRPr lang="en-US" sz="9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5486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ECE7DD"/>
                </a:solidFill>
                <a:latin typeface="Georgia"/>
              </a:rPr>
              <a:t>Live: governing a runaway, end to end.</a:t>
            </a:r>
          </a:p>
        </p:txBody>
      </p:sp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8740" y="1234439"/>
            <a:ext cx="6103620" cy="38147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899A1816-9C43-97F0-2817-663249EE2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8338"/>
            <a:ext cx="9144000" cy="40172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68580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ECE7DD"/>
                </a:solidFill>
                <a:latin typeface="Georgia"/>
              </a:rPr>
              <a:t>The policy catalog.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43584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C2BDB3"/>
                </a:solidFill>
                <a:latin typeface="Calibri"/>
              </a:rPr>
              <a:t>Ten deterministic policies. Detect, then act. No LLM in the enforcement path.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SPEND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38528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cost budget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hard stop at the 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942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pre call worst case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block a call it can’t afford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cost guard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steer cheaper as spend nears the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99232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CONTEXT &amp;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context compaction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shrink the prompt near the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57016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tool output cap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offload oversized tool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69164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LOOPS &amp;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938528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step cap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cap boundary crossings per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249424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progress guard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detect stuck runs, then halt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56032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output runaway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cancel or retry degenerate streams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871216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tool fix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catch bad tool calls; halt on repeat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310128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557016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BE4D"/>
                </a:solidFill>
                <a:latin typeface="Calibri"/>
              </a:rPr>
              <a:t>concurrency cap</a:t>
            </a:r>
            <a:r>
              <a:rPr sz="1000" b="0" i="0">
                <a:solidFill>
                  <a:srgbClr val="C2BDB3"/>
                </a:solidFill>
                <a:latin typeface="Calibri"/>
              </a:rPr>
              <a:t>   limit in-flight calls per segment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FA99B"/>
                </a:solidFill>
                <a:latin typeface="Consolas"/>
              </a:rPr>
              <a:t>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2BDB3"/>
                </a:solidFill>
                <a:latin typeface="Calibri"/>
              </a:rPr>
              <a:t>allow · mutate · inject · reject · queue · retry · cancel · halt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8229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ECE7DD"/>
                </a:solidFill>
                <a:latin typeface="Georgia"/>
              </a:rPr>
              <a:t>The baseline is just the start.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69164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1">
                <a:solidFill>
                  <a:srgbClr val="EFBE4D"/>
                </a:solidFill>
                <a:latin typeface="Georgia"/>
              </a:rPr>
              <a:t>Next, the plane improves its own policies.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51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AFA99B"/>
                </a:solidFill>
                <a:latin typeface="Consolas"/>
              </a:rPr>
              <a:t>A CLOSED EXPERIMENTATION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926080"/>
            <a:ext cx="1280160" cy="4572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AFA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 i="0">
                <a:solidFill>
                  <a:srgbClr val="ECE7DD"/>
                </a:solidFill>
                <a:latin typeface="Calibri"/>
              </a:rPr>
              <a:t>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39" y="292608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EFBE4D"/>
                </a:solidFill>
                <a:latin typeface="Consola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79" y="2926080"/>
            <a:ext cx="1280160" cy="4572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AFA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79" y="29260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 i="0">
                <a:solidFill>
                  <a:srgbClr val="ECE7DD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92608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EFBE4D"/>
                </a:solidFill>
                <a:latin typeface="Consola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79" y="2926080"/>
            <a:ext cx="1280160" cy="4572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AFA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9079" y="29260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 i="0">
                <a:solidFill>
                  <a:srgbClr val="ECE7DD"/>
                </a:solidFill>
                <a:latin typeface="Calibri"/>
              </a:rPr>
              <a:t>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92608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EFBE4D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79" y="2926080"/>
            <a:ext cx="1737360" cy="4572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AFA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79" y="29260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 i="0">
                <a:solidFill>
                  <a:srgbClr val="ECE7DD"/>
                </a:solidFill>
                <a:latin typeface="Calibri"/>
              </a:rPr>
              <a:t>update policies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292608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EFBE4D"/>
                </a:solidFill>
                <a:latin typeface="Consolas"/>
              </a:rPr>
              <a:t>↺ repeat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8620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FBE4D"/>
                </a:solidFill>
                <a:latin typeface="Calibri"/>
              </a:rPr>
              <a:t>Enhancement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886200"/>
            <a:ext cx="6126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2BDB3"/>
                </a:solidFill>
                <a:latin typeface="Calibri"/>
              </a:rPr>
              <a:t>new policies, discovered from real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FBE4D"/>
                </a:solidFill>
                <a:latin typeface="Calibri"/>
              </a:rPr>
              <a:t>Refinement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315968"/>
            <a:ext cx="6126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2BDB3"/>
                </a:solidFill>
                <a:latin typeface="Calibri"/>
              </a:rPr>
              <a:t>every policy, tuned to your workload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1945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>
                <a:solidFill>
                  <a:srgbClr val="ECE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3400"/>
          </a:p>
        </p:txBody>
      </p:sp>
      <p:sp>
        <p:nvSpPr>
          <p:cNvPr id="3" name="Text 1"/>
          <p:cNvSpPr/>
          <p:nvPr/>
        </p:nvSpPr>
        <p:spPr>
          <a:xfrm>
            <a:off x="86868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EFBE4D"/>
                </a:solidFill>
                <a:latin typeface="Calibri"/>
                <a:ea typeface="Calibri"/>
                <a:cs typeface="Calibri"/>
              </a:rPr>
              <a:t>The </a:t>
            </a:r>
            <a:r>
              <a:rPr lang="en-US" sz="1600" err="1">
                <a:solidFill>
                  <a:srgbClr val="EFBE4D"/>
                </a:solidFill>
                <a:latin typeface="Calibri"/>
                <a:ea typeface="Calibri"/>
                <a:cs typeface="Calibri"/>
              </a:rPr>
              <a:t>AgentPlane</a:t>
            </a:r>
            <a:r>
              <a:rPr lang="en-US" sz="1600">
                <a:solidFill>
                  <a:srgbClr val="EFBE4D"/>
                </a:solidFill>
                <a:latin typeface="Calibri"/>
                <a:ea typeface="Calibri"/>
                <a:cs typeface="Calibri"/>
              </a:rPr>
              <a:t> Team</a:t>
            </a:r>
            <a:endParaRPr lang="en-US"/>
          </a:p>
        </p:txBody>
      </p:sp>
      <p:sp>
        <p:nvSpPr>
          <p:cNvPr id="4" name="Text 2">
            <a:hlinkClick r:id="rId3"/>
          </p:cNvPr>
          <p:cNvSpPr/>
          <p:nvPr/>
        </p:nvSpPr>
        <p:spPr>
          <a:xfrm>
            <a:off x="868680" y="3584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>
                <a:solidFill>
                  <a:srgbClr val="EFBE4D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github.com/theagentplane/tokenops-wiki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6720840" y="2194560"/>
            <a:ext cx="1325880" cy="1325880"/>
          </a:xfrm>
          <a:prstGeom prst="rect">
            <a:avLst/>
          </a:prstGeom>
          <a:solidFill>
            <a:srgbClr val="131210"/>
          </a:solidFill>
          <a:ln w="12700">
            <a:solidFill>
              <a:srgbClr val="4A42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720840" y="219456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8A86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repo QR ]</a:t>
            </a:r>
            <a:endParaRPr lang="en-US" sz="10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130010-99F0-49A8-25D0-EBF06D78EE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7495" y="1668780"/>
            <a:ext cx="2331665" cy="23153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18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Who Spent All the Tokens?</dc:title>
  <dc:subject>PptxGenJS Presentation</dc:subject>
  <dc:creator>Susheem Koul, Tisha Chawla</dc:creator>
  <cp:revision>2</cp:revision>
  <dcterms:created xsi:type="dcterms:W3CDTF">2026-06-28T00:53:37Z</dcterms:created>
  <dcterms:modified xsi:type="dcterms:W3CDTF">2026-07-08T21:17:27Z</dcterms:modified>
</cp:coreProperties>
</file>